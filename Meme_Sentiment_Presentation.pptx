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B5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>
        <p:scale>
          <a:sx n="113" d="100"/>
          <a:sy n="113" d="100"/>
        </p:scale>
        <p:origin x="584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F2937"/>
                </a:solidFill>
                <a:latin typeface="Arial"/>
              </a:rPr>
              <a:t>Images per class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Images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83D-DC4D-9CEB-1F52DDA78F39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83D-DC4D-9CEB-1F52DDA78F39}"/>
              </c:ext>
            </c:extLst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83D-DC4D-9CEB-1F52DDA78F3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Positive</c:v>
                </c:pt>
                <c:pt idx="1">
                  <c:v>Neutral</c:v>
                </c:pt>
                <c:pt idx="2">
                  <c:v>Negative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4158</c:v>
                </c:pt>
                <c:pt idx="1">
                  <c:v>2201</c:v>
                </c:pt>
                <c:pt idx="2">
                  <c:v>631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83D-DC4D-9CEB-1F52DDA78F3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0814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 sir. My project is Meme Sentiment Classification using Deep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5001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5B21B6">
              <a:alpha val="40000"/>
            </a:srgbClr>
          </a:solidFill>
          <a:ln w="12700">
            <a:solidFill>
              <a:srgbClr val="5B21B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926080"/>
            <a:ext cx="3657600" cy="3657600"/>
          </a:xfrm>
          <a:prstGeom prst="ellipse">
            <a:avLst/>
          </a:prstGeom>
          <a:solidFill>
            <a:srgbClr val="0E7490">
              <a:alpha val="40000"/>
            </a:srgbClr>
          </a:solidFill>
          <a:ln w="12700">
            <a:solidFill>
              <a:srgbClr val="0E74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Meme Sentiment Classification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Deep Learning (MobileNetV2 Transfer Learning)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&amp; Entertainment — Mini Project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GURRALA ROHITH KUMAR 013</a:t>
            </a:r>
          </a:p>
          <a:p>
            <a:r>
              <a:rPr lang="en-US" sz="1300" dirty="0">
                <a:solidFill>
                  <a:srgbClr val="A5B4FC"/>
                </a:solidFill>
                <a:latin typeface="Calibri" pitchFamily="34" charset="0"/>
                <a:cs typeface="Calibri" pitchFamily="34" charset="-120"/>
              </a:rPr>
              <a:t>	 </a:t>
            </a:r>
            <a:r>
              <a:rPr lang="en-IN" sz="1300" dirty="0">
                <a:solidFill>
                  <a:srgbClr val="A5B5F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Veda Charan </a:t>
            </a:r>
            <a:r>
              <a:rPr lang="en-IN" sz="1300" dirty="0" err="1">
                <a:solidFill>
                  <a:srgbClr val="A5B5F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Sanapathi</a:t>
            </a:r>
            <a:r>
              <a:rPr lang="en-IN" sz="1300" dirty="0">
                <a:solidFill>
                  <a:srgbClr val="A5B5F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031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Problem?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Memes are shared in very large numbers every day on social media.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meme can be Positive (funny, happy), Neutral, or Negative (insulting, sad).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and brands want to know how people feel — but reading every meme by hand is not possible.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need a computer program that looks at a meme and tells its sentiment automatically.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0" y="1188720"/>
            <a:ext cx="3017520" cy="3200400"/>
          </a:xfrm>
          <a:prstGeom prst="roundRect">
            <a:avLst>
              <a:gd name="adj" fmla="val 3636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852160" y="1371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52160" y="1828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meme image  →  the model says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0" y="2423160"/>
            <a:ext cx="2468880" cy="4572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0" y="2423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0" y="3017520"/>
            <a:ext cx="2468880" cy="45720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0" y="3017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0" y="3611880"/>
            <a:ext cx="2468880" cy="45720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0" y="3611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 Sentiment Classification  ·  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little research work is done on meme sentiment. Text sentiment and normal image classification are common, but memes mix picture + text + </a:t>
            </a:r>
            <a:r>
              <a:rPr lang="en-US" sz="17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humour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it is a new and hard area.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2020 the </a:t>
            </a:r>
            <a:r>
              <a:rPr lang="en-US" sz="17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Memotion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task (SemEval-2020) gave the first proper dataset of ~7,000 memes. Even the best teams got low scores — this shows the problem is difficult. [1]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(2018) is a light and fast CNN that gives good accuracy. [2]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learning: reuse a model trained on a big dataset (ImageNet) for our small dataset. [3][4]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optimizer is the standard method used to train the network. [5]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 Sentiment Classification  ·  3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— Memotion 7k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7,000 real meme images with sentiment labels given by humans.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5 labels merged into 3 classes.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 images removed; images kept in class folders.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for training (5,592 images), 20% for validation (1,398 images).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dataset has many more positive memes than negative — this affects results.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937760" y="1188720"/>
          <a:ext cx="37490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 Sentiment Classification  ·  4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Works (Pipeline)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1051560" cy="1097280"/>
          </a:xfrm>
          <a:prstGeom prst="roundRect">
            <a:avLst>
              <a:gd name="adj" fmla="val 8696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5156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 Image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08760" y="1828800"/>
            <a:ext cx="146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</a:rPr>
              <a:t>›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655064" y="1828800"/>
            <a:ext cx="1051560" cy="1097280"/>
          </a:xfrm>
          <a:prstGeom prst="roundRect">
            <a:avLst>
              <a:gd name="adj" fmla="val 8696"/>
            </a:avLst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55064" y="1828800"/>
            <a:ext cx="105156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224×224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Normalize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06624" y="1828800"/>
            <a:ext cx="146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</a:rPr>
              <a:t>›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52928" y="1828800"/>
            <a:ext cx="1051560" cy="1097280"/>
          </a:xfrm>
          <a:prstGeom prst="roundRect">
            <a:avLst>
              <a:gd name="adj" fmla="val 8696"/>
            </a:avLst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52928" y="1828800"/>
            <a:ext cx="105156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04488" y="1828800"/>
            <a:ext cx="146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</a:rPr>
              <a:t>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050792" y="1828800"/>
            <a:ext cx="1051560" cy="1097280"/>
          </a:xfrm>
          <a:prstGeom prst="roundRect">
            <a:avLst>
              <a:gd name="adj" fmla="val 8696"/>
            </a:avLst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50792" y="1828800"/>
            <a:ext cx="105156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(CNN Backbone)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02352" y="1828800"/>
            <a:ext cx="146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</a:rPr>
              <a:t>›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248656" y="1828800"/>
            <a:ext cx="1051560" cy="1097280"/>
          </a:xfrm>
          <a:prstGeom prst="roundRect">
            <a:avLst>
              <a:gd name="adj" fmla="val 8696"/>
            </a:avLst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48656" y="1828800"/>
            <a:ext cx="105156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0216" y="1828800"/>
            <a:ext cx="146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</a:rPr>
              <a:t>›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46520" y="1828800"/>
            <a:ext cx="1051560" cy="1097280"/>
          </a:xfrm>
          <a:prstGeom prst="roundRect">
            <a:avLst>
              <a:gd name="adj" fmla="val 8696"/>
            </a:avLst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46520" y="1828800"/>
            <a:ext cx="105156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Layers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Softmax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0" y="1828800"/>
            <a:ext cx="146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</a:rPr>
              <a:t>›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644384" y="1828800"/>
            <a:ext cx="1051560" cy="1097280"/>
          </a:xfrm>
          <a:prstGeom prst="roundRect">
            <a:avLst>
              <a:gd name="adj" fmla="val 8696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644384" y="1828800"/>
            <a:ext cx="105156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2004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is resized to 224×224 and pixel values scaled to 0–1.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(flip, small rotate, zoom) makes the model learn better and not just memorize.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already knows how to see shapes, faces and objects (trained on 1.4 million ImageNet photos).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new Dense layers learn to map these features to Positive / Neutral / Negative.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 Sentiment Classification  ·  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07008"/>
            <a:ext cx="411480" cy="41148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14300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(154 layers)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749040" y="114300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feature extractor — transfer learning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73936"/>
            <a:ext cx="411480" cy="41148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773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70992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Average Pooling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49040" y="1709928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7×7×1280 features → one 1280-length vector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340864"/>
            <a:ext cx="411480" cy="41148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3408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27685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Normalization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49040" y="2276856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values stable, faster training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907792"/>
            <a:ext cx="411480" cy="41148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907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84378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(256, ReLU)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49040" y="2843784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 — learns meme-sentiment patterns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411480" cy="41148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41071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(0.4)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749040" y="3410712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off 40% neurons in training — stops overfitting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041648"/>
            <a:ext cx="411480" cy="41148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40416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397764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(3, Softmax)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749040" y="39776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probability of each of the 3 classes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 Sentiment Classification  ·  6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Activation Functions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3291840"/>
          </a:xfrm>
          <a:prstGeom prst="roundRect">
            <a:avLst>
              <a:gd name="adj" fmla="val 333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ReLU  (hidden layer)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f(x) = max(0, x)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input becomes 0, positive stays same.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simple and fast.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the vanishing gradient problem.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inside MobileNetV2 also (ReLU6).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77640" cy="3291840"/>
          </a:xfrm>
          <a:prstGeom prst="roundRect">
            <a:avLst>
              <a:gd name="adj" fmla="val 333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325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Softmax  (output layer)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e^zi / Σ e^zj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22860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3 raw scores into 3 probabilities that add up to 100%.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Positive 85%, Neutral 10%, Negative 5% → answer is Positive.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choice when exactly one class must be selected.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 Sentiment Classification  ·  7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the Model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182880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Feature Extraction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69164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frozen (weights not changed)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new Dense layers are trained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1e-4, up to 10 epochs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9160" y="1188720"/>
            <a:ext cx="3977640" cy="182880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Fine-Tuning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9164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30 layers of MobileNetV2 unfrozen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network trained slowly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1e-5, up to 10 epochs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Categorical Cross-Entropy   ·   Optimizer: Adam   ·   Batch size: 32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ModelCheckpoint — saves the BEST weights (highest validation accuracy) to models/meme_sentiment.keras.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 — if validation loss does not improve for 5 epochs, training stops and best weights are restored.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 — learning rate is reduced when improvement stops.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 Sentiment Classification  ·  8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54–57%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guess baseline (3 classes)</a:t>
            </a:r>
            <a:endParaRPr lang="en-US" sz="1200" dirty="0"/>
          </a:p>
        </p:txBody>
      </p:sp>
      <p:pic>
        <p:nvPicPr>
          <p:cNvPr id="9" name="Image 0" descr="/private/tmp/claude-501/-Users-rohithkumar-Downloads-Meme-Sentiment-Classification/4182e0d8-791a-4d29-a664-a47c3af76a33/scratchpad/c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143000"/>
            <a:ext cx="3108960" cy="31089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92240" y="1188720"/>
            <a:ext cx="2286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class is detected well (F1 ≈ 0.69).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and Negative are often confused with Positive.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1: dataset imbalance (6 positive for every 1 negative).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2: the joke is often in the caption text, not the picture.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image-only results on Memotion are also in the same range [1].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 Sentiment Classification  ·  9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Application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852160" y="1280160"/>
            <a:ext cx="2834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Flask (Python) — runs on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http://127.0.0.1:5001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drags &amp; drops a meme image.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predicts and shows sentiment with confidence %.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bars for all three classes.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enough for any non-technical user.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 Sentiment Classification  ·  10</a:t>
            </a:r>
            <a:endParaRPr lang="en-US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284F95-CB78-7265-C2DB-6716BEBD17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72986"/>
            <a:ext cx="4924766" cy="27975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3291840"/>
          </a:xfrm>
          <a:prstGeom prst="roundRect">
            <a:avLst>
              <a:gd name="adj" fmla="val 333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complete deep learning pipeline: data → training → evaluation → web app.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with MobileNetV2 works on a small dataset.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weights are selected and saved automatically.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is much better than random and matches published image-only work.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9160" y="1188720"/>
            <a:ext cx="3977640" cy="3291840"/>
          </a:xfrm>
          <a:prstGeom prst="roundRect">
            <a:avLst>
              <a:gd name="adj" fmla="val 333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3776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78308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 to handle dataset imbalance.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OCR + text model (LSTM / BERT) and combine with CNN — the way to reach ~70%.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more backbone layers or try a stronger CNN (EfficientNet).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 Sentiment Classification  ·  11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(IEEE)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C. Sharma et al., “SemEval-2020 Task 8: Memotion Analysis — The Visuo-Lingual Metaphor!,” in Proc. SemEval-2020, Barcelona, Spain, 2020, pp. 759–773.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M. Sandler, A. Howard, M. Zhu, A. Zhmoginov, and L.-C. Chen, “MobileNetV2: Inverted Residuals and Linear Bottlenecks,” in Proc. IEEE/CVF CVPR, Salt Lake City, UT, USA, 2018, pp. 4510–4520.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J. Deng, W. Dong, R. Socher, L.-J. Li, K. Li, and L. Fei-Fei, “ImageNet: A Large-Scale Hierarchical Image Database,” in Proc. IEEE CVPR, Miami, FL, USA, 2009, pp. 248–255.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S. J. Pan and Q. Yang, “A Survey on Transfer Learning,” IEEE Trans. Knowledge and Data Engineering, vol. 22, no. 10, pp. 1345–1359, Oct. 2010.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D. P. Kingma and J. Ba, “Adam: A Method for Stochastic Optimization,” in Proc. ICLR, San Diego, CA, USA, 2015.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 Sentiment Classification  ·  12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78977" y="-1005840"/>
            <a:ext cx="3657600" cy="3657600"/>
          </a:xfrm>
          <a:prstGeom prst="ellipse">
            <a:avLst/>
          </a:prstGeom>
          <a:solidFill>
            <a:srgbClr val="5B21B6">
              <a:alpha val="40000"/>
            </a:srgbClr>
          </a:solidFill>
          <a:ln w="12700">
            <a:solidFill>
              <a:srgbClr val="5B21B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0E7490">
              <a:alpha val="40000"/>
            </a:srgbClr>
          </a:solidFill>
          <a:ln w="12700">
            <a:solidFill>
              <a:srgbClr val="0E74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1241</Words>
  <Application>Microsoft Macintosh PowerPoint</Application>
  <PresentationFormat>On-screen Show (16:9)</PresentationFormat>
  <Paragraphs>154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GURRALA ROHITH KUMAR</cp:lastModifiedBy>
  <cp:revision>2</cp:revision>
  <dcterms:created xsi:type="dcterms:W3CDTF">2026-08-18T02:40:13Z</dcterms:created>
  <dcterms:modified xsi:type="dcterms:W3CDTF">2026-08-18T03:29:24Z</dcterms:modified>
</cp:coreProperties>
</file>